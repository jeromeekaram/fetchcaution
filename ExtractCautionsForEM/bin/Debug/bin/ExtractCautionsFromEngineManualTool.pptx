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812" r:id="rId5"/>
  </p:sldMasterIdLst>
  <p:notesMasterIdLst>
    <p:notesMasterId r:id="rId18"/>
  </p:notesMasterIdLst>
  <p:handoutMasterIdLst>
    <p:handoutMasterId r:id="rId19"/>
  </p:handoutMasterIdLst>
  <p:sldIdLst>
    <p:sldId id="342" r:id="rId6"/>
    <p:sldId id="938" r:id="rId7"/>
    <p:sldId id="930" r:id="rId8"/>
    <p:sldId id="964" r:id="rId9"/>
    <p:sldId id="928" r:id="rId10"/>
    <p:sldId id="966" r:id="rId11"/>
    <p:sldId id="968" r:id="rId12"/>
    <p:sldId id="969" r:id="rId13"/>
    <p:sldId id="970" r:id="rId14"/>
    <p:sldId id="960" r:id="rId15"/>
    <p:sldId id="961" r:id="rId16"/>
    <p:sldId id="840" r:id="rId17"/>
  </p:sldIdLst>
  <p:sldSz cx="9144000" cy="5715000" type="screen16x10"/>
  <p:notesSz cx="6797675" cy="9926638"/>
  <p:custDataLst>
    <p:tags r:id="rId20"/>
  </p:custDataLst>
  <p:defaultTextStyle>
    <a:defPPr>
      <a:defRPr lang="en-US"/>
    </a:defPPr>
    <a:lvl1pPr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1pPr>
    <a:lvl2pPr marL="355600" indent="101600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2pPr>
    <a:lvl3pPr marL="712788" indent="2016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3pPr>
    <a:lvl4pPr marL="1068388" indent="3032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4pPr>
    <a:lvl5pPr marL="1425575" indent="403225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888">
          <p15:clr>
            <a:srgbClr val="A4A3A4"/>
          </p15:clr>
        </p15:guide>
        <p15:guide id="4" orient="horz" pos="312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1891">
          <p15:clr>
            <a:srgbClr val="A4A3A4"/>
          </p15:clr>
        </p15:guide>
        <p15:guide id="7" orient="horz" pos="2760">
          <p15:clr>
            <a:srgbClr val="A4A3A4"/>
          </p15:clr>
        </p15:guide>
        <p15:guide id="8" pos="2812">
          <p15:clr>
            <a:srgbClr val="A4A3A4"/>
          </p15:clr>
        </p15:guide>
        <p15:guide id="9" pos="360">
          <p15:clr>
            <a:srgbClr val="A4A3A4"/>
          </p15:clr>
        </p15:guide>
        <p15:guide id="10" pos="4440">
          <p15:clr>
            <a:srgbClr val="A4A3A4"/>
          </p15:clr>
        </p15:guide>
        <p15:guide id="11" pos="2424">
          <p15:clr>
            <a:srgbClr val="A4A3A4"/>
          </p15:clr>
        </p15:guide>
        <p15:guide id="12" pos="294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7CA7"/>
    <a:srgbClr val="002060"/>
    <a:srgbClr val="53565A"/>
    <a:srgbClr val="7F7F7F"/>
    <a:srgbClr val="0066FF"/>
    <a:srgbClr val="FFFFFF"/>
    <a:srgbClr val="00757D"/>
    <a:srgbClr val="D9D9D9"/>
    <a:srgbClr val="E7EF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55" autoAdjust="0"/>
    <p:restoredTop sz="93721" autoAdjust="0"/>
  </p:normalViewPr>
  <p:slideViewPr>
    <p:cSldViewPr snapToGrid="0">
      <p:cViewPr varScale="1">
        <p:scale>
          <a:sx n="77" d="100"/>
          <a:sy n="77" d="100"/>
        </p:scale>
        <p:origin x="1230" y="78"/>
      </p:cViewPr>
      <p:guideLst>
        <p:guide orient="horz" pos="1536"/>
        <p:guide orient="horz" pos="1008"/>
        <p:guide orient="horz" pos="888"/>
        <p:guide orient="horz" pos="3120"/>
        <p:guide orient="horz" pos="432"/>
        <p:guide orient="horz" pos="1891"/>
        <p:guide orient="horz" pos="2760"/>
        <p:guide pos="2812"/>
        <p:guide pos="360"/>
        <p:guide pos="4440"/>
        <p:guide pos="2424"/>
        <p:guide pos="294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60" d="100"/>
        <a:sy n="160" d="100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3996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20986C9F-7EA9-4872-B4CB-A703B8C0F220}" type="datetimeFigureOut">
              <a:rPr lang="en-US"/>
              <a:pPr>
                <a:defRPr/>
              </a:pPr>
              <a:t>8/19/2026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A4894E05-76AD-44AA-AA1C-297880C243E8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3270493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E105C9E7-A95E-4488-8E57-42BCF09FF3D7}" type="datetimeFigureOut">
              <a:rPr lang="en-US"/>
              <a:pPr>
                <a:defRPr/>
              </a:pPr>
              <a:t>8/19/2026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744538"/>
            <a:ext cx="59563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2B34421-655C-4564-82BB-49845E235FC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6038229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499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en-GB" altLang="en-US" dirty="0"/>
          </a:p>
        </p:txBody>
      </p:sp>
      <p:sp>
        <p:nvSpPr>
          <p:cNvPr id="8499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fld id="{5786E1A6-9376-43E6-A58F-AA43E4058360}" type="slidenum">
              <a:rPr lang="en-GB" altLang="en-US" sz="1200">
                <a:latin typeface="Arial" panose="020B0604020202020204" pitchFamily="34" charset="0"/>
              </a:rPr>
              <a:pPr/>
              <a:t>1</a:t>
            </a:fld>
            <a:endParaRPr lang="en-GB" altLang="en-US" sz="1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259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2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807760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3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4</a:t>
            </a:fld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5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901225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10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722257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-7259" y="0"/>
            <a:ext cx="9136745" cy="5747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2023 CONFIDENTIAL</a:t>
            </a: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1B065AB9-3768-4067-9CE0-3287E6D78621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526886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B608B32-9D53-4AC7-BC55-4D029446934A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54905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2021-09-2016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E1E1A7A7-DB25-4486-8AED-FFF528A4CB4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8470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8A4A04CF-1BC9-4C63-AE06-A38D4D08020F}" type="slidenum">
              <a:rPr lang="en-GB" altLang="en-US"/>
              <a:pPr/>
              <a:t>‹#›</a:t>
            </a:fld>
            <a:endParaRPr lang="en-GB" altLang="en-US" dirty="0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2023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138083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849CEDC-4B60-4080-A82C-5B9A418A910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51173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3646F39-BE8D-4B10-81A9-93EEF1C77B4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983036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592272-C947-42CD-8D97-6D5C77A2E7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250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EDC2BA-DCCB-4CE4-BFDF-3E54A4CA16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999099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08E2CFC-5127-4DA8-BF86-4B439CBAD0BF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929930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5E3F4D7-673F-48AF-A228-F520965DCDE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7929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8F401BB-24F7-48D3-A5B1-50F53545D77D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54608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DCEDE38-717F-484B-92C6-1619BD9ACFD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3309442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8739D58-2D74-49D8-BEBC-9E45DD9137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812957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DAA1784-FDD9-4DC3-B96F-3397914AD83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414850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20055298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</a:t>
            </a:r>
            <a:r>
              <a:rPr lang="en-GB">
                <a:solidFill>
                  <a:schemeClr val="bg1"/>
                </a:solidFill>
              </a:rPr>
              <a:t>© 2018  </a:t>
            </a:r>
            <a:r>
              <a:rPr lang="en-GB" dirty="0">
                <a:solidFill>
                  <a:schemeClr val="bg1"/>
                </a:solidFill>
              </a:rPr>
              <a:t>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82DD3993-69B2-42D4-A33C-1B42906A94F6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4643091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30163"/>
            <a:ext cx="9144000" cy="58324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CONFIDENTIAL</a:t>
            </a:r>
          </a:p>
        </p:txBody>
      </p:sp>
      <p:sp>
        <p:nvSpPr>
          <p:cNvPr id="2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6793FED9-EEFB-4EA3-95F2-A1F05C3FC64C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2859216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Slide_without lo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83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5005388" y="711200"/>
            <a:ext cx="3657600" cy="4098925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7"/>
          <p:cNvSpPr>
            <a:spLocks noChangeArrowheads="1"/>
          </p:cNvSpPr>
          <p:nvPr userDrawn="1"/>
        </p:nvSpPr>
        <p:spPr bwMode="auto">
          <a:xfrm>
            <a:off x="4818063" y="457200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788400" y="4413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7"/>
          <p:cNvSpPr>
            <a:spLocks noChangeArrowheads="1"/>
          </p:cNvSpPr>
          <p:nvPr userDrawn="1"/>
        </p:nvSpPr>
        <p:spPr bwMode="auto">
          <a:xfrm>
            <a:off x="4818063" y="4999038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8783638" y="4997450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 CONFIDENTIAL</a:t>
            </a:r>
          </a:p>
        </p:txBody>
      </p:sp>
      <p:sp>
        <p:nvSpPr>
          <p:cNvPr id="11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229464" y="1022165"/>
            <a:ext cx="3213126" cy="235902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229464" y="3632016"/>
            <a:ext cx="3213125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30C27E21-523D-41B9-AF6A-62A96C68EB03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5167852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chemeClr val="bg1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F7B7D72-6245-4CC5-944E-711E8E15213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206173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9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4616BD27-D9C1-4486-8DEB-ED1BCD90C7EB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989619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2BE231C-1C30-4C2E-A6E8-5D5C90D876B3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6540536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7823E29-0CC1-4C1B-8B05-05ECDB2A17B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680362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AE6650FA-21AF-4792-9261-96DFB12790D2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9727087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64D93C-2695-4782-A96B-8A21F458D36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5202820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672B815-9B6D-4EAB-9E4A-6CFC8F19BB6E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55462334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127FCC3F-CB47-4283-91AC-90238BD23D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57045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398726F-11E4-44CB-BDEC-CB8AD6476096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823897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A05B395-7B1E-46E0-ABAF-570557A2CF6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087765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C71BC6-5D05-496E-B108-8D265AEC4038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54622735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5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DF962966-3C67-4CF1-A59D-81397B15122E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9322083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AB5B02B-627A-438C-A0A6-0602FE8B8DCB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1056729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31326846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dirty="0">
                <a:solidFill>
                  <a:srgbClr val="FFFFFF"/>
                </a:solidFill>
              </a:rPr>
              <a:t>2021-11-11</a:t>
            </a:r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E3D68813-5053-4108-8CC1-6F98BF4001E4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465733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Image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0"/>
          <p:cNvGrpSpPr>
            <a:grpSpLocks/>
          </p:cNvGrpSpPr>
          <p:nvPr/>
        </p:nvGrpSpPr>
        <p:grpSpPr bwMode="auto">
          <a:xfrm>
            <a:off x="239713" y="523875"/>
            <a:ext cx="1541462" cy="265113"/>
            <a:chOff x="239939" y="523892"/>
            <a:chExt cx="1541887" cy="264640"/>
          </a:xfrm>
        </p:grpSpPr>
        <p:grpSp>
          <p:nvGrpSpPr>
            <p:cNvPr id="6" name="Group 11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</p:grpSp>
        <p:sp>
          <p:nvSpPr>
            <p:cNvPr id="7" name="Oval 7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solidFill>
                  <a:srgbClr val="53565A"/>
                </a:solidFill>
                <a:latin typeface="Effra"/>
                <a:ea typeface="+mn-ea"/>
              </a:endParaRPr>
            </a:p>
          </p:txBody>
        </p:sp>
      </p:grpSp>
      <p:sp>
        <p:nvSpPr>
          <p:cNvPr id="14" name="Oval 9"/>
          <p:cNvSpPr>
            <a:spLocks noChangeArrowheads="1"/>
          </p:cNvSpPr>
          <p:nvPr/>
        </p:nvSpPr>
        <p:spPr bwMode="auto">
          <a:xfrm>
            <a:off x="4987925" y="538797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5" name="Oval 7"/>
          <p:cNvSpPr>
            <a:spLocks noChangeArrowheads="1"/>
          </p:cNvSpPr>
          <p:nvPr/>
        </p:nvSpPr>
        <p:spPr bwMode="auto">
          <a:xfrm>
            <a:off x="1077913" y="538956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6" name="Oval 8"/>
          <p:cNvSpPr>
            <a:spLocks noChangeArrowheads="1"/>
          </p:cNvSpPr>
          <p:nvPr/>
        </p:nvSpPr>
        <p:spPr bwMode="auto">
          <a:xfrm>
            <a:off x="4987925" y="6191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10163" y="1031875"/>
            <a:ext cx="3624263" cy="54788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chemeClr val="accent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258241" y="780747"/>
            <a:ext cx="3621734" cy="4518329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Click icon to add picture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09078" y="1728439"/>
            <a:ext cx="3626044" cy="35706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14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18" name="Date Placeholder 3"/>
          <p:cNvSpPr>
            <a:spLocks noGrp="1"/>
          </p:cNvSpPr>
          <p:nvPr>
            <p:ph type="dt" sz="half" idx="15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8007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33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26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30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1031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244074B0-F102-4ED2-A9B7-B13EB4DD3D1C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41" r:id="rId1"/>
    <p:sldLayoutId id="2147484342" r:id="rId2"/>
    <p:sldLayoutId id="2147484343" r:id="rId3"/>
    <p:sldLayoutId id="2147484344" r:id="rId4"/>
    <p:sldLayoutId id="2147484345" r:id="rId5"/>
    <p:sldLayoutId id="2147484346" r:id="rId6"/>
    <p:sldLayoutId id="2147484347" r:id="rId7"/>
    <p:sldLayoutId id="2147484348" r:id="rId8"/>
    <p:sldLayoutId id="2147484349" r:id="rId9"/>
    <p:sldLayoutId id="2147484350" r:id="rId10"/>
    <p:sldLayoutId id="2147484351" r:id="rId11"/>
    <p:sldLayoutId id="2147484352" r:id="rId12"/>
    <p:sldLayoutId id="2147484353" r:id="rId13"/>
    <p:sldLayoutId id="2147484354" r:id="rId14"/>
    <p:sldLayoutId id="2147484355" r:id="rId15"/>
    <p:sldLayoutId id="2147484375" r:id="rId16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054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2055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407F945A-D7BA-482B-ABE4-A0CE45D4A140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57" r:id="rId1"/>
    <p:sldLayoutId id="2147484358" r:id="rId2"/>
    <p:sldLayoutId id="2147484359" r:id="rId3"/>
    <p:sldLayoutId id="2147484360" r:id="rId4"/>
    <p:sldLayoutId id="2147484361" r:id="rId5"/>
    <p:sldLayoutId id="2147484362" r:id="rId6"/>
    <p:sldLayoutId id="2147484363" r:id="rId7"/>
    <p:sldLayoutId id="2147484364" r:id="rId8"/>
    <p:sldLayoutId id="2147484365" r:id="rId9"/>
    <p:sldLayoutId id="2147484366" r:id="rId10"/>
    <p:sldLayoutId id="2147484367" r:id="rId11"/>
    <p:sldLayoutId id="2147484368" r:id="rId12"/>
    <p:sldLayoutId id="2147484369" r:id="rId13"/>
    <p:sldLayoutId id="2147484370" r:id="rId14"/>
    <p:sldLayoutId id="2147484371" r:id="rId15"/>
    <p:sldLayoutId id="2147484372" r:id="rId16"/>
    <p:sldLayoutId id="2147484373" r:id="rId17"/>
    <p:sldLayoutId id="2147484374" r:id="rId18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slide" Target="slide3.xml"/><Relationship Id="rId7" Type="http://schemas.openxmlformats.org/officeDocument/2006/relationships/slide" Target="slide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slide" Target="slide7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3/PW1000G-77445-19156-00/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mailto:prakash7808@ihi-g.com" TargetMode="External"/><Relationship Id="rId2" Type="http://schemas.openxmlformats.org/officeDocument/2006/relationships/hyperlink" Target="mailto:ito0114@ihi-g.com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mailto:Veerendra.Kotari@cyient.com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8"/>
          <p:cNvSpPr>
            <a:spLocks noGrp="1"/>
          </p:cNvSpPr>
          <p:nvPr>
            <p:ph type="ctrTitle"/>
          </p:nvPr>
        </p:nvSpPr>
        <p:spPr>
          <a:xfrm>
            <a:off x="3444680" y="2561772"/>
            <a:ext cx="5099246" cy="1610177"/>
          </a:xfrm>
        </p:spPr>
        <p:txBody>
          <a:bodyPr anchor="ctr"/>
          <a:lstStyle/>
          <a:p>
            <a:pPr marL="180975" algn="ctr" eaLnBrk="1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ja-JP" sz="2800" b="1" dirty="0"/>
              <a:t>EXTRACT Cautions FROM ENGINE MANUAL Tool</a:t>
            </a:r>
            <a:endParaRPr lang="en-GB" alt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3444680" y="4373110"/>
            <a:ext cx="4976004" cy="428372"/>
          </a:xfrm>
        </p:spPr>
        <p:txBody>
          <a:bodyPr anchor="ctr"/>
          <a:lstStyle/>
          <a:p>
            <a: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By Cyient Offshore Team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7ED22B-8921-4C1C-A925-4E7CC4EA7234}"/>
              </a:ext>
            </a:extLst>
          </p:cNvPr>
          <p:cNvSpPr txBox="1"/>
          <p:nvPr/>
        </p:nvSpPr>
        <p:spPr>
          <a:xfrm>
            <a:off x="87682" y="5548801"/>
            <a:ext cx="1904367" cy="1661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200" b="1" i="1" dirty="0">
                <a:solidFill>
                  <a:schemeClr val="bg1"/>
                </a:solidFill>
              </a:rPr>
              <a:t>Last Update : 18-August-26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2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7" name="Title 4"/>
          <p:cNvSpPr txBox="1">
            <a:spLocks/>
          </p:cNvSpPr>
          <p:nvPr/>
        </p:nvSpPr>
        <p:spPr bwMode="auto">
          <a:xfrm>
            <a:off x="483801" y="1"/>
            <a:ext cx="8001934" cy="8551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cs typeface="Effra" panose="020B0603020203020204" pitchFamily="34" charset="0"/>
              </a:rPr>
              <a:t>Table of </a:t>
            </a:r>
            <a:r>
              <a:rPr lang="en-US" altLang="en-US" sz="2000" dirty="0">
                <a:cs typeface="Effra" panose="020B0603020203020204" pitchFamily="34" charset="0"/>
              </a:rPr>
              <a:t>contents</a:t>
            </a:r>
            <a:endParaRPr lang="en-US" altLang="en-US" sz="1800" dirty="0">
              <a:latin typeface="Effra" pitchFamily="34" charset="0"/>
              <a:cs typeface="Effra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D070321-6CCF-420A-AAD3-988D8D83BF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141589"/>
              </p:ext>
            </p:extLst>
          </p:nvPr>
        </p:nvGraphicFramePr>
        <p:xfrm>
          <a:off x="481290" y="1237299"/>
          <a:ext cx="8181420" cy="3029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610">
                  <a:extLst>
                    <a:ext uri="{9D8B030D-6E8A-4147-A177-3AD203B41FA5}">
                      <a16:colId xmlns:a16="http://schemas.microsoft.com/office/drawing/2014/main" val="583575702"/>
                    </a:ext>
                  </a:extLst>
                </a:gridCol>
                <a:gridCol w="6537157">
                  <a:extLst>
                    <a:ext uri="{9D8B030D-6E8A-4147-A177-3AD203B41FA5}">
                      <a16:colId xmlns:a16="http://schemas.microsoft.com/office/drawing/2014/main" val="3760166588"/>
                    </a:ext>
                  </a:extLst>
                </a:gridCol>
                <a:gridCol w="828653">
                  <a:extLst>
                    <a:ext uri="{9D8B030D-6E8A-4147-A177-3AD203B41FA5}">
                      <a16:colId xmlns:a16="http://schemas.microsoft.com/office/drawing/2014/main" val="2824057291"/>
                    </a:ext>
                  </a:extLst>
                </a:gridCol>
              </a:tblGrid>
              <a:tr h="372636">
                <a:tc>
                  <a:txBody>
                    <a:bodyPr/>
                    <a:lstStyle/>
                    <a:p>
                      <a:r>
                        <a:rPr lang="en-US" sz="1300" dirty="0"/>
                        <a:t>Sl.NO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Slide. 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989486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alt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3" action="ppaction://hlinksldjump"/>
                        </a:rPr>
                        <a:t>Background and Objective 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3" action="ppaction://hlinksldjump"/>
                        </a:rPr>
                        <a:t>3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5699512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Revision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sldjump"/>
                        </a:rPr>
                        <a:t>4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92889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Tool Interface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5" action="ppaction://hlinksldjump"/>
                        </a:rPr>
                        <a:t>5-6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896643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6" action="ppaction://hlinksldjump"/>
                        </a:rPr>
                        <a:t>7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58377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Tool functionality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7" action="ppaction://hlinksldjump"/>
                        </a:rPr>
                        <a:t>8-9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75704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u="sng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Output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>
                          <a:hlinkClick r:id="rId8" action="ppaction://hlinksldjump"/>
                        </a:rPr>
                        <a:t>10</a:t>
                      </a:r>
                      <a:endParaRPr lang="en-US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142067"/>
                  </a:ext>
                </a:extLst>
              </a:tr>
              <a:tr h="306405">
                <a:tc>
                  <a:txBody>
                    <a:bodyPr/>
                    <a:lstStyle/>
                    <a:p>
                      <a:r>
                        <a:rPr lang="en-US" u="sng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>
                          <a:hlinkClick r:id="rId9" action="ppaction://hlinksldjump"/>
                        </a:rPr>
                        <a:t>11</a:t>
                      </a:r>
                      <a:endParaRPr lang="en-US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92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9463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Background and Objective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3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9303" y="1594477"/>
            <a:ext cx="8373476" cy="1887361"/>
          </a:xfrm>
        </p:spPr>
        <p:txBody>
          <a:bodyPr/>
          <a:lstStyle/>
          <a:p>
            <a:pPr marL="0" indent="0" algn="just" defTabSz="712788">
              <a:lnSpc>
                <a:spcPct val="150000"/>
              </a:lnSpc>
              <a:spcAft>
                <a:spcPct val="0"/>
              </a:spcAft>
            </a:pPr>
            <a:r>
              <a:rPr lang="en-US" dirty="0">
                <a:cs typeface="+mn-cs"/>
              </a:rPr>
              <a:t>OBJECTIVE</a:t>
            </a:r>
          </a:p>
          <a:p>
            <a:r>
              <a:rPr lang="en-US" sz="1400" b="0" dirty="0">
                <a:solidFill>
                  <a:schemeClr val="accent2"/>
                </a:solidFill>
              </a:rPr>
              <a:t>The objective of this tool is to automate the extraction of caution statements from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 CIR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SP 72-35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SP 72-51</a:t>
            </a:r>
          </a:p>
          <a:p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 txBox="1">
            <a:spLocks/>
          </p:cNvSpPr>
          <p:nvPr/>
        </p:nvSpPr>
        <p:spPr bwMode="auto">
          <a:xfrm>
            <a:off x="393895" y="1134543"/>
            <a:ext cx="8224293" cy="4599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0" dirty="0">
                <a:solidFill>
                  <a:schemeClr val="accent2"/>
                </a:solidFill>
              </a:rPr>
              <a:t>-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FC74C7-F221-45FD-A8AB-D92CCDA676AF}"/>
              </a:ext>
            </a:extLst>
          </p:cNvPr>
          <p:cNvSpPr/>
          <p:nvPr/>
        </p:nvSpPr>
        <p:spPr>
          <a:xfrm>
            <a:off x="214583" y="674609"/>
            <a:ext cx="1760418" cy="45993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just">
              <a:lnSpc>
                <a:spcPct val="150000"/>
              </a:lnSpc>
            </a:pPr>
            <a:r>
              <a:rPr lang="en-US" sz="1800" b="1" dirty="0">
                <a:solidFill>
                  <a:srgbClr val="00A5DF"/>
                </a:solidFill>
                <a:latin typeface="+mn-lt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42863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Revision History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4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1765729-DA94-4513-AF50-142EC014C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042087"/>
              </p:ext>
            </p:extLst>
          </p:nvPr>
        </p:nvGraphicFramePr>
        <p:xfrm>
          <a:off x="681038" y="762872"/>
          <a:ext cx="7866063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5117">
                  <a:extLst>
                    <a:ext uri="{9D8B030D-6E8A-4147-A177-3AD203B41FA5}">
                      <a16:colId xmlns:a16="http://schemas.microsoft.com/office/drawing/2014/main" val="3384817582"/>
                    </a:ext>
                  </a:extLst>
                </a:gridCol>
                <a:gridCol w="1383578">
                  <a:extLst>
                    <a:ext uri="{9D8B030D-6E8A-4147-A177-3AD203B41FA5}">
                      <a16:colId xmlns:a16="http://schemas.microsoft.com/office/drawing/2014/main" val="1872084909"/>
                    </a:ext>
                  </a:extLst>
                </a:gridCol>
                <a:gridCol w="5467368">
                  <a:extLst>
                    <a:ext uri="{9D8B030D-6E8A-4147-A177-3AD203B41FA5}">
                      <a16:colId xmlns:a16="http://schemas.microsoft.com/office/drawing/2014/main" val="19705501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Version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Date Updated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Remarks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035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18-Aug-2026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Initial version of tool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9580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6788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CCE31A-3C88-4BC1-AC7D-2E4941F723D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4838" y="634024"/>
            <a:ext cx="8438850" cy="84404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600" b="0" dirty="0"/>
              <a:t>Below picture is the user interface of </a:t>
            </a:r>
            <a:r>
              <a:rPr lang="en-US" sz="1600" dirty="0"/>
              <a:t>Extract Cautions From Engine Manual Tool</a:t>
            </a:r>
            <a:r>
              <a:rPr lang="en-US" sz="1600" b="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</p:txBody>
      </p:sp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54838" y="73097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Tool Interface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5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91D1F8-4DEE-4A88-B6CF-0D59F8F0E5C6}"/>
              </a:ext>
            </a:extLst>
          </p:cNvPr>
          <p:cNvSpPr txBox="1"/>
          <p:nvPr/>
        </p:nvSpPr>
        <p:spPr>
          <a:xfrm>
            <a:off x="3842748" y="5290914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C67DC2-4835-3BB5-8E85-37F94A6333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321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EE6F1-AA04-9D17-5E2F-FF8C1574F02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6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FECD7-5394-9660-6456-CB7BB46EC759}"/>
              </a:ext>
            </a:extLst>
          </p:cNvPr>
          <p:cNvSpPr txBox="1"/>
          <p:nvPr/>
        </p:nvSpPr>
        <p:spPr>
          <a:xfrm>
            <a:off x="3842748" y="5290914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3C374F-6078-6C1D-7450-98C1E669D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780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9AF4C9-4EC5-A3F1-7353-9590EF6733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7</a:t>
            </a:fld>
            <a:endParaRPr lang="en-GB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8B26C1-6061-6024-8062-EF492BD0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  <p:sp>
        <p:nvSpPr>
          <p:cNvPr id="7" name="Title 4">
            <a:extLst>
              <a:ext uri="{FF2B5EF4-FFF2-40B4-BE49-F238E27FC236}">
                <a16:creationId xmlns:a16="http://schemas.microsoft.com/office/drawing/2014/main" id="{1DECADAB-4846-C761-6AE6-5B0D3D134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783" y="388890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Inputs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E29002A-33EF-9FDA-6F20-A3ED5CC20678}"/>
              </a:ext>
            </a:extLst>
          </p:cNvPr>
          <p:cNvSpPr txBox="1">
            <a:spLocks/>
          </p:cNvSpPr>
          <p:nvPr/>
        </p:nvSpPr>
        <p:spPr bwMode="auto">
          <a:xfrm>
            <a:off x="5958845" y="1061958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Type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6D6CB02-F1A4-C4C6-321D-7F573E8D4186}"/>
              </a:ext>
            </a:extLst>
          </p:cNvPr>
          <p:cNvCxnSpPr>
            <a:cxnSpLocks/>
          </p:cNvCxnSpPr>
          <p:nvPr/>
        </p:nvCxnSpPr>
        <p:spPr>
          <a:xfrm>
            <a:off x="6576164" y="1234996"/>
            <a:ext cx="0" cy="128273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E4620103-A586-70CE-E30D-A01702303F6C}"/>
              </a:ext>
            </a:extLst>
          </p:cNvPr>
          <p:cNvSpPr txBox="1">
            <a:spLocks/>
          </p:cNvSpPr>
          <p:nvPr/>
        </p:nvSpPr>
        <p:spPr bwMode="auto">
          <a:xfrm>
            <a:off x="5863018" y="3962553"/>
            <a:ext cx="2007706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Report Output location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811A494-7B2A-9E4F-D8E2-717F56AC22C8}"/>
              </a:ext>
            </a:extLst>
          </p:cNvPr>
          <p:cNvCxnSpPr>
            <a:cxnSpLocks/>
          </p:cNvCxnSpPr>
          <p:nvPr/>
        </p:nvCxnSpPr>
        <p:spPr>
          <a:xfrm flipV="1">
            <a:off x="6653408" y="3332968"/>
            <a:ext cx="0" cy="575153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7CFFDB85-CFC1-DB57-131F-901ABCDAC914}"/>
              </a:ext>
            </a:extLst>
          </p:cNvPr>
          <p:cNvSpPr txBox="1">
            <a:spLocks/>
          </p:cNvSpPr>
          <p:nvPr/>
        </p:nvSpPr>
        <p:spPr bwMode="auto">
          <a:xfrm>
            <a:off x="3017320" y="3843599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Link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F2477A-37D0-5C94-CF69-6AC03E684ABB}"/>
              </a:ext>
            </a:extLst>
          </p:cNvPr>
          <p:cNvCxnSpPr>
            <a:cxnSpLocks/>
          </p:cNvCxnSpPr>
          <p:nvPr/>
        </p:nvCxnSpPr>
        <p:spPr>
          <a:xfrm flipV="1">
            <a:off x="3448840" y="2981195"/>
            <a:ext cx="0" cy="82880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9099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C30D0-07E0-3C53-56C6-57FA03F3C0D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8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90843F-D45B-A9A3-C1D4-21AD8C2C6377}"/>
              </a:ext>
            </a:extLst>
          </p:cNvPr>
          <p:cNvSpPr txBox="1"/>
          <p:nvPr/>
        </p:nvSpPr>
        <p:spPr>
          <a:xfrm>
            <a:off x="162839" y="629229"/>
            <a:ext cx="91440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1. Module Selection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Module Type drop-down list allows the user to select the Engine Manual document from which cautions will be extracted.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Available options: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Engine Manual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Engine Manual CIR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SP 72-31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SP 72-51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Select the appropriate manual type before entering the Engine Manual link.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b="1" dirty="0"/>
              <a:t>2. Engine Manual Link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Engine Manual Link field is used to enter the URL of the module page from which cautions need to be extracted.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Example:</a:t>
            </a:r>
          </a:p>
          <a:p>
            <a:r>
              <a:rPr lang="pt-BR" dirty="0">
                <a:solidFill>
                  <a:srgbClr val="00B0F0"/>
                </a:solidFill>
              </a:rPr>
              <a:t>http://127.0.0.1:8000/PW1000G-77445-19453-00/PW1000G-77445-15653-00.html                    (EM_CIR)</a:t>
            </a:r>
          </a:p>
          <a:p>
            <a:r>
              <a:rPr lang="pt-BR" dirty="0">
                <a:solidFill>
                  <a:srgbClr val="00B0F0"/>
                </a:solidFill>
              </a:rPr>
              <a:t>http://127.0.0.1:8001/PW1000G-77445-19453-00/PW1000G-77445-16992-00.html                    (EM)</a:t>
            </a:r>
          </a:p>
          <a:p>
            <a:r>
              <a:rPr lang="en-US" dirty="0">
                <a:solidFill>
                  <a:srgbClr val="00B0F0"/>
                </a:solidFill>
              </a:rPr>
              <a:t>http://127.0.0.1:8002/PW1000G-77445-19155-00/                                                                                                     (SP_CIR_72_35)</a:t>
            </a:r>
          </a:p>
          <a:p>
            <a:r>
              <a:rPr lang="en-US" dirty="0">
                <a:solidFill>
                  <a:srgbClr val="00B0F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http://127.0.0.1:8003/PW1000G-77445-19156-00/</a:t>
            </a:r>
            <a:r>
              <a:rPr lang="en-US" dirty="0">
                <a:solidFill>
                  <a:srgbClr val="00B0F0"/>
                </a:solidFill>
              </a:rPr>
              <a:t>                                                                                                     (SP_CIR_72_51)</a:t>
            </a:r>
          </a:p>
          <a:p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endParaRPr lang="en-US" dirty="0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B4BED2CD-EDBB-8546-8A39-C04640296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459" y="129978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Tool functionality</a:t>
            </a:r>
            <a:endParaRPr lang="en-US" altLang="en-US" sz="1600" dirty="0">
              <a:latin typeface="Effr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9378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FB500-BDE9-AF4D-7E46-5542A0782CE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9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86E202-FDEB-9DFD-B5F1-B56151B9E1B4}"/>
              </a:ext>
            </a:extLst>
          </p:cNvPr>
          <p:cNvSpPr txBox="1"/>
          <p:nvPr/>
        </p:nvSpPr>
        <p:spPr>
          <a:xfrm>
            <a:off x="363538" y="700413"/>
            <a:ext cx="844225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1400" b="1" dirty="0"/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Ensure that the Engine Manual link corresponds to the module type selected in the drop-down list.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rgbClr val="FF0000"/>
                </a:solidFill>
              </a:rPr>
              <a:t>NOTE</a:t>
            </a:r>
            <a:r>
              <a:rPr lang="en-US" dirty="0">
                <a:solidFill>
                  <a:srgbClr val="00B0F0"/>
                </a:solidFill>
              </a:rPr>
              <a:t> :  The port numbers may change</a:t>
            </a:r>
            <a:endParaRPr lang="en-US" b="1" dirty="0"/>
          </a:p>
          <a:p>
            <a:pPr>
              <a:buNone/>
            </a:pPr>
            <a:endParaRPr lang="en-US" sz="1400" b="1" dirty="0"/>
          </a:p>
          <a:p>
            <a:pPr>
              <a:buNone/>
            </a:pPr>
            <a:r>
              <a:rPr lang="en-US" sz="1400" b="1" dirty="0"/>
              <a:t>3. Output Location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Output location specifies the path where the extracted caution report will be generated.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Users may enter the full file path or browse to the desired location.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Example:</a:t>
            </a:r>
          </a:p>
          <a:p>
            <a:pPr rtl="0">
              <a:buNone/>
            </a:pPr>
            <a:r>
              <a:rPr lang="en-US" dirty="0">
                <a:solidFill>
                  <a:srgbClr val="00B0F0"/>
                </a:solidFill>
              </a:rPr>
              <a:t>D:\Reports\CautionList.xlsx</a:t>
            </a:r>
          </a:p>
          <a:p>
            <a:pPr rtl="0">
              <a:buNone/>
            </a:pPr>
            <a:endParaRPr lang="en-US" dirty="0">
              <a:latin typeface="Courier New" panose="02070309020205020404" pitchFamily="49" charset="0"/>
            </a:endParaRPr>
          </a:p>
          <a:p>
            <a:pPr rtl="0">
              <a:buNone/>
            </a:pPr>
            <a:endParaRPr lang="en-US" sz="1400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400" b="1" dirty="0"/>
              <a:t>4. Fetch Cautions Button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Click Fetch Cautions to begin the extraction process.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tool will: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Open the specified page in the background.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Scan the Engine Manual Page for caution statements.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Extract all identified cautions.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Generate the report at the specified location.</a:t>
            </a:r>
          </a:p>
        </p:txBody>
      </p:sp>
    </p:spTree>
    <p:extLst>
      <p:ext uri="{BB962C8B-B14F-4D97-AF65-F5344CB8AC3E}">
        <p14:creationId xmlns:p14="http://schemas.microsoft.com/office/powerpoint/2010/main" val="1365765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22007" y="246354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Output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97FE8E-8C5D-4FB2-B7C8-1970D7CA26A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10</a:t>
            </a:fld>
            <a:endParaRPr lang="en-GB" altLang="en-US" dirty="0"/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F09B7482-E031-4C33-ACED-3841E808E88A}"/>
              </a:ext>
            </a:extLst>
          </p:cNvPr>
          <p:cNvSpPr txBox="1">
            <a:spLocks/>
          </p:cNvSpPr>
          <p:nvPr/>
        </p:nvSpPr>
        <p:spPr bwMode="auto">
          <a:xfrm>
            <a:off x="998538" y="709972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b="0" dirty="0">
                <a:solidFill>
                  <a:schemeClr val="bg2">
                    <a:lumMod val="10000"/>
                  </a:schemeClr>
                </a:solidFill>
              </a:rPr>
              <a:t>Cautions Report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E322A7AD-A3A7-467E-A07F-8011016994D3}"/>
              </a:ext>
            </a:extLst>
          </p:cNvPr>
          <p:cNvSpPr txBox="1">
            <a:spLocks/>
          </p:cNvSpPr>
          <p:nvPr/>
        </p:nvSpPr>
        <p:spPr bwMode="auto">
          <a:xfrm>
            <a:off x="3730723" y="1502921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endParaRPr lang="en-US" sz="1400" b="0" dirty="0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2650B0-7ED3-29D5-2EFF-40D9F765E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95869"/>
            <a:ext cx="9144000" cy="32469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E7ED6E1-F6D4-8AE6-9E36-8A3F2CD8A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538" y="961321"/>
            <a:ext cx="1190791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5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04372" y="1455371"/>
            <a:ext cx="4935255" cy="1175096"/>
          </a:xfrm>
        </p:spPr>
        <p:txBody>
          <a:bodyPr/>
          <a:lstStyle/>
          <a:p>
            <a:pPr marL="0" indent="0">
              <a:lnSpc>
                <a:spcPct val="150000"/>
              </a:lnSpc>
            </a:pPr>
            <a:r>
              <a:rPr lang="en-US" sz="1200" dirty="0"/>
              <a:t>IHI</a:t>
            </a:r>
            <a:r>
              <a:rPr lang="en-US" sz="1200" b="0" dirty="0"/>
              <a:t>    		Tatsuya Ito-San 	</a:t>
            </a:r>
            <a:r>
              <a:rPr lang="en-US" sz="1200" b="0" dirty="0">
                <a:hlinkClick r:id="rId2"/>
              </a:rPr>
              <a:t>ito0114@ihi-g.com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Onsite </a:t>
            </a:r>
            <a:r>
              <a:rPr lang="en-US" sz="1200" b="0" dirty="0"/>
              <a:t>	Suraj Prakash</a:t>
            </a:r>
            <a:r>
              <a:rPr lang="en-US" sz="1200" b="0"/>
              <a:t>	</a:t>
            </a:r>
            <a:r>
              <a:rPr lang="en-US" sz="1200" b="0">
                <a:hlinkClick r:id="rId3"/>
              </a:rPr>
              <a:t>prakash7808@ihi-g.com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Offshore </a:t>
            </a:r>
            <a:r>
              <a:rPr lang="en-US" sz="1200" b="0" dirty="0"/>
              <a:t>	Veerendra Kotari	</a:t>
            </a:r>
            <a:r>
              <a:rPr lang="en-US" sz="1200" b="0" dirty="0">
                <a:hlinkClick r:id="rId4"/>
              </a:rPr>
              <a:t>Veerendra.Kotari@cyient.com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endParaRPr lang="pt-BR" sz="1200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7E03-8311-4878-A0F4-83A51F6C323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11</a:t>
            </a:fld>
            <a:endParaRPr lang="en-GB" alt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3E22D8D7-B261-487B-BE5C-95FC09F51493}"/>
              </a:ext>
            </a:extLst>
          </p:cNvPr>
          <p:cNvSpPr txBox="1">
            <a:spLocks/>
          </p:cNvSpPr>
          <p:nvPr/>
        </p:nvSpPr>
        <p:spPr bwMode="auto">
          <a:xfrm>
            <a:off x="473902" y="33822"/>
            <a:ext cx="7965738" cy="448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sz="1800" dirty="0">
                <a:latin typeface="Effra" pitchFamily="34" charset="0"/>
              </a:rPr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3638767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4"/>
          <p:cNvSpPr>
            <a:spLocks noChangeArrowheads="1"/>
          </p:cNvSpPr>
          <p:nvPr/>
        </p:nvSpPr>
        <p:spPr bwMode="auto">
          <a:xfrm>
            <a:off x="655638" y="1122363"/>
            <a:ext cx="2754985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40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  <a:endParaRPr lang="en-US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899" name="Rectangle 5"/>
          <p:cNvSpPr>
            <a:spLocks noChangeArrowheads="1"/>
          </p:cNvSpPr>
          <p:nvPr/>
        </p:nvSpPr>
        <p:spPr bwMode="auto">
          <a:xfrm>
            <a:off x="655638" y="2282825"/>
            <a:ext cx="2557462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 u </a:t>
            </a:r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</a:p>
          <a:p>
            <a:pPr eaLnBrk="1" hangingPunct="1"/>
            <a:r>
              <a:rPr lang="ja-JP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ありがとうございました</a:t>
            </a:r>
            <a:endParaRPr lang="en-US" altLang="ja-JP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ar-SA" altLang="en-US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شكرا</a:t>
            </a:r>
            <a:endParaRPr lang="en-US" altLang="en-US" sz="1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2AE2C9-144D-4638-B388-2744DB6B78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DD3993-69B2-42D4-A33C-1B42906A94F6}" type="slidenum">
              <a:rPr lang="en-GB" altLang="en-US" smtClean="0"/>
              <a:pPr/>
              <a:t>12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9959082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b3f99df2537edf59afc0e2b465b760d4e1ecf4"/>
</p:tagLst>
</file>

<file path=ppt/theme/theme1.xml><?xml version="1.0" encoding="utf-8"?>
<a:theme xmlns:a="http://schemas.openxmlformats.org/drawingml/2006/main" name="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2.xml><?xml version="1.0" encoding="utf-8"?>
<a:theme xmlns:a="http://schemas.openxmlformats.org/drawingml/2006/main" name="1_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77667ae-fd08-4bd8-a603-c9f8c202c5e0">
      <Value>2720</Value>
    </TaxCatchAll>
    <KpiDescription xmlns="http://schemas.microsoft.com/sharepoint/v3" xsi:nil="true"/>
    <DocumentTypeTaxHTField0 xmlns="2613b0ce-4e5a-4068-84c6-4aae3ccc9c8a">
      <Terms xmlns="http://schemas.microsoft.com/office/infopath/2007/PartnerControls">
        <TermInfo xmlns="http://schemas.microsoft.com/office/infopath/2007/PartnerControls">
          <TermName xmlns="http://schemas.microsoft.com/office/infopath/2007/PartnerControls">Presentation</TermName>
          <TermId xmlns="http://schemas.microsoft.com/office/infopath/2007/PartnerControls">c7776749-3f71-458e-9ba5-93d6c492bea1</TermId>
        </TermInfo>
      </Terms>
    </DocumentTypeTaxHTField0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DF239F2ED0534CBEE452B336985728" ma:contentTypeVersion="4" ma:contentTypeDescription="Create a new document." ma:contentTypeScope="" ma:versionID="6a7824fc007c3b206678c4e4d6201abd">
  <xsd:schema xmlns:xsd="http://www.w3.org/2001/XMLSchema" xmlns:xs="http://www.w3.org/2001/XMLSchema" xmlns:p="http://schemas.microsoft.com/office/2006/metadata/properties" xmlns:ns1="http://schemas.microsoft.com/sharepoint/v3" xmlns:ns2="2613b0ce-4e5a-4068-84c6-4aae3ccc9c8a" xmlns:ns3="077667ae-fd08-4bd8-a603-c9f8c202c5e0" targetNamespace="http://schemas.microsoft.com/office/2006/metadata/properties" ma:root="true" ma:fieldsID="86c3fa7aeb19401307e35c1f80bf319a" ns1:_="" ns2:_="" ns3:_="">
    <xsd:import namespace="http://schemas.microsoft.com/sharepoint/v3"/>
    <xsd:import namespace="2613b0ce-4e5a-4068-84c6-4aae3ccc9c8a"/>
    <xsd:import namespace="077667ae-fd08-4bd8-a603-c9f8c202c5e0"/>
    <xsd:element name="properties">
      <xsd:complexType>
        <xsd:sequence>
          <xsd:element name="documentManagement">
            <xsd:complexType>
              <xsd:all>
                <xsd:element ref="ns1:KpiDescription" minOccurs="0"/>
                <xsd:element ref="ns2:DocumentTypeTaxHTField0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KpiDescription" ma:index="8" nillable="true" ma:displayName="Description" ma:description="The description provides information about the purpose of the goal." ma:internalName="KpiDescription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13b0ce-4e5a-4068-84c6-4aae3ccc9c8a" elementFormDefault="qualified">
    <xsd:import namespace="http://schemas.microsoft.com/office/2006/documentManagement/types"/>
    <xsd:import namespace="http://schemas.microsoft.com/office/infopath/2007/PartnerControls"/>
    <xsd:element name="DocumentTypeTaxHTField0" ma:index="10" nillable="true" ma:taxonomy="true" ma:internalName="DocumentTypeTaxHTField0" ma:taxonomyFieldName="DocumentType" ma:displayName="Doc Type" ma:default="" ma:fieldId="{b38e73fa-3fa4-4cc9-bd77-dbd76d21d008}" ma:sspId="adf4fa4d-29e6-4218-a706-098c789e0c3a" ma:termSetId="b986a70f-bbc1-4b23-a752-1ebd832cc258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7667ae-fd08-4bd8-a603-c9f8c202c5e0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description="" ma:hidden="true" ma:list="{54b4bec0-9b44-4159-a93d-d17114ade7e6}" ma:internalName="TaxCatchAll" ma:showField="CatchAllData" ma:web="8169b5a4-8bd4-4642-af7c-d5cc304704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84B35E-1715-4D43-A2FB-C60A3458883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5FFBBF1-4683-4EE9-8FE4-EED661D9A09E}">
  <ds:schemaRefs>
    <ds:schemaRef ds:uri="http://schemas.microsoft.com/office/2006/metadata/properties"/>
    <ds:schemaRef ds:uri="http://www.w3.org/XML/1998/namespace"/>
    <ds:schemaRef ds:uri="http://purl.org/dc/terms/"/>
    <ds:schemaRef ds:uri="http://purl.org/dc/dcmitype/"/>
    <ds:schemaRef ds:uri="http://schemas.microsoft.com/sharepoint/v3"/>
    <ds:schemaRef ds:uri="077667ae-fd08-4bd8-a603-c9f8c202c5e0"/>
    <ds:schemaRef ds:uri="2613b0ce-4e5a-4068-84c6-4aae3ccc9c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51FB943C-7FAA-4048-9A7F-254B30072A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613b0ce-4e5a-4068-84c6-4aae3ccc9c8a"/>
    <ds:schemaRef ds:uri="077667ae-fd08-4bd8-a603-c9f8c202c5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Cyient_PPT_V1.potx</Template>
  <TotalTime>1543</TotalTime>
  <Words>445</Words>
  <Application>Microsoft Office PowerPoint</Application>
  <PresentationFormat>On-screen Show (16:10)</PresentationFormat>
  <Paragraphs>127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Arial Unicode MS</vt:lpstr>
      <vt:lpstr>Courier New</vt:lpstr>
      <vt:lpstr>Cyient Medium</vt:lpstr>
      <vt:lpstr>Effra</vt:lpstr>
      <vt:lpstr>Lucida Grande</vt:lpstr>
      <vt:lpstr>Cyient_PPT_V1</vt:lpstr>
      <vt:lpstr>1_Cyient_PPT_V1</vt:lpstr>
      <vt:lpstr>EXTRACT Cautions FROM ENGINE MANUAL Tool</vt:lpstr>
      <vt:lpstr>PowerPoint Presentation</vt:lpstr>
      <vt:lpstr>Background and Objective</vt:lpstr>
      <vt:lpstr>Revision History</vt:lpstr>
      <vt:lpstr>Tool Interface</vt:lpstr>
      <vt:lpstr>PowerPoint Presentation</vt:lpstr>
      <vt:lpstr>Inputs</vt:lpstr>
      <vt:lpstr>Tool functionality</vt:lpstr>
      <vt:lpstr>PowerPoint Presentation</vt:lpstr>
      <vt:lpstr>Output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to Pratt&amp;Whitney</dc:title>
  <dc:creator>Veerendra Kotari</dc:creator>
  <cp:lastModifiedBy>Ganikapudi, Shamsundar (Cyient)</cp:lastModifiedBy>
  <cp:revision>350</cp:revision>
  <cp:lastPrinted>2014-03-03T14:48:47Z</cp:lastPrinted>
  <dcterms:created xsi:type="dcterms:W3CDTF">2016-01-05T09:59:59Z</dcterms:created>
  <dcterms:modified xsi:type="dcterms:W3CDTF">2026-08-19T01:04:23Z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0x010100AADF239F2ED0534CBEE452B336985728</vt:lpwstr>
  </property>
  <property fmtid="{D5CDD505-2E9C-101B-9397-08002B2CF9AE}" pid="3" name="DocumentType">
    <vt:lpwstr>2720;#Presentation|c7776749-3f71-458e-9ba5-93d6c492bea1</vt:lpwstr>
  </property>
  <property fmtid="{D5CDD505-2E9C-101B-9397-08002B2CF9AE}" pid="4" name="MSIP_Label_0cb49050-d2ca-4b82-83d8-3fed8b20fa0b_Enabled">
    <vt:lpwstr>true</vt:lpwstr>
  </property>
  <property fmtid="{D5CDD505-2E9C-101B-9397-08002B2CF9AE}" pid="5" name="MSIP_Label_0cb49050-d2ca-4b82-83d8-3fed8b20fa0b_SetDate">
    <vt:lpwstr>2023-05-24T09:50:00Z</vt:lpwstr>
  </property>
  <property fmtid="{D5CDD505-2E9C-101B-9397-08002B2CF9AE}" pid="6" name="MSIP_Label_0cb49050-d2ca-4b82-83d8-3fed8b20fa0b_Method">
    <vt:lpwstr>Standard</vt:lpwstr>
  </property>
  <property fmtid="{D5CDD505-2E9C-101B-9397-08002B2CF9AE}" pid="7" name="MSIP_Label_0cb49050-d2ca-4b82-83d8-3fed8b20fa0b_Name">
    <vt:lpwstr>Public</vt:lpwstr>
  </property>
  <property fmtid="{D5CDD505-2E9C-101B-9397-08002B2CF9AE}" pid="8" name="MSIP_Label_0cb49050-d2ca-4b82-83d8-3fed8b20fa0b_SiteId">
    <vt:lpwstr>2d6b0cf3-57fa-4619-abf9-d13e1ef2352a</vt:lpwstr>
  </property>
  <property fmtid="{D5CDD505-2E9C-101B-9397-08002B2CF9AE}" pid="9" name="MSIP_Label_0cb49050-d2ca-4b82-83d8-3fed8b20fa0b_ActionId">
    <vt:lpwstr>d82a26d2-ca7c-43c5-8b3c-3d6f10252998</vt:lpwstr>
  </property>
  <property fmtid="{D5CDD505-2E9C-101B-9397-08002B2CF9AE}" pid="10" name="MSIP_Label_0cb49050-d2ca-4b82-83d8-3fed8b20fa0b_ContentBits">
    <vt:lpwstr>0</vt:lpwstr>
  </property>
  <property fmtid="{D5CDD505-2E9C-101B-9397-08002B2CF9AE}" pid="11" name="MSIP_Label_3ff30b04-956c-44fa-8cae-8da9c421c2aa_Enabled">
    <vt:lpwstr>true</vt:lpwstr>
  </property>
  <property fmtid="{D5CDD505-2E9C-101B-9397-08002B2CF9AE}" pid="12" name="MSIP_Label_3ff30b04-956c-44fa-8cae-8da9c421c2aa_SetDate">
    <vt:lpwstr>2026-03-09T06:54:13Z</vt:lpwstr>
  </property>
  <property fmtid="{D5CDD505-2E9C-101B-9397-08002B2CF9AE}" pid="13" name="MSIP_Label_3ff30b04-956c-44fa-8cae-8da9c421c2aa_Method">
    <vt:lpwstr>Privileged</vt:lpwstr>
  </property>
  <property fmtid="{D5CDD505-2E9C-101B-9397-08002B2CF9AE}" pid="14" name="MSIP_Label_3ff30b04-956c-44fa-8cae-8da9c421c2aa_Name">
    <vt:lpwstr>Public</vt:lpwstr>
  </property>
  <property fmtid="{D5CDD505-2E9C-101B-9397-08002B2CF9AE}" pid="15" name="MSIP_Label_3ff30b04-956c-44fa-8cae-8da9c421c2aa_SiteId">
    <vt:lpwstr>37a72eb7-1faf-49d3-9ddc-6b923b751bc0</vt:lpwstr>
  </property>
  <property fmtid="{D5CDD505-2E9C-101B-9397-08002B2CF9AE}" pid="16" name="MSIP_Label_3ff30b04-956c-44fa-8cae-8da9c421c2aa_ActionId">
    <vt:lpwstr>84246d5d-1c9b-48c7-9ead-6e7050afeb94</vt:lpwstr>
  </property>
  <property fmtid="{D5CDD505-2E9C-101B-9397-08002B2CF9AE}" pid="17" name="MSIP_Label_3ff30b04-956c-44fa-8cae-8da9c421c2aa_ContentBits">
    <vt:lpwstr>0</vt:lpwstr>
  </property>
  <property fmtid="{D5CDD505-2E9C-101B-9397-08002B2CF9AE}" pid="18" name="MSIP_Label_3ff30b04-956c-44fa-8cae-8da9c421c2aa_Tag">
    <vt:lpwstr>10, 0, 1, 1</vt:lpwstr>
  </property>
</Properties>
</file>